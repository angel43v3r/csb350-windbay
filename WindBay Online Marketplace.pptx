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Lexend"/>
      <p:regular r:id="rId20"/>
      <p:bold r:id="rId21"/>
    </p:embeddedFont>
    <p:embeddedFont>
      <p:font typeface="Alexandria Black"/>
      <p:bold r:id="rId22"/>
    </p:embeddedFont>
    <p:embeddedFont>
      <p:font typeface="Alexandria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exend-regular.fntdata"/><Relationship Id="rId11" Type="http://schemas.openxmlformats.org/officeDocument/2006/relationships/slide" Target="slides/slide6.xml"/><Relationship Id="rId22" Type="http://schemas.openxmlformats.org/officeDocument/2006/relationships/font" Target="fonts/AlexandriaBlack-bold.fntdata"/><Relationship Id="rId10" Type="http://schemas.openxmlformats.org/officeDocument/2006/relationships/slide" Target="slides/slide5.xml"/><Relationship Id="rId21" Type="http://schemas.openxmlformats.org/officeDocument/2006/relationships/font" Target="fonts/Lexend-bold.fntdata"/><Relationship Id="rId13" Type="http://schemas.openxmlformats.org/officeDocument/2006/relationships/slide" Target="slides/slide8.xml"/><Relationship Id="rId24" Type="http://schemas.openxmlformats.org/officeDocument/2006/relationships/font" Target="fonts/Alexandria-bold.fntdata"/><Relationship Id="rId12" Type="http://schemas.openxmlformats.org/officeDocument/2006/relationships/slide" Target="slides/slide7.xml"/><Relationship Id="rId23" Type="http://schemas.openxmlformats.org/officeDocument/2006/relationships/font" Target="fonts/Alexandria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5b5630d8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5b5630d8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65b5630d8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65b5630d8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5b5630d8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65b5630d8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65b5630d80_0_28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65b5630d80_0_28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5be2b674f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5be2b674f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65be2b674f_2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65be2b674f_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65be2b674f_2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65be2b674f_2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5be2b674f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5be2b674f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36cf5a8759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36cf5a8759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36cf5a8759_1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36cf5a8759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36cf5a8759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36cf5a8759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36cf5a8759_1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36cf5a8759_1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65be2b674f_2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65be2b674f_2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65be2b674f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65be2b674f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Relationship Id="rId4" Type="http://schemas.openxmlformats.org/officeDocument/2006/relationships/image" Target="../media/image14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9.png"/><Relationship Id="rId5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2.png"/><Relationship Id="rId5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Relationship Id="rId4" Type="http://schemas.openxmlformats.org/officeDocument/2006/relationships/image" Target="../media/image24.png"/><Relationship Id="rId5" Type="http://schemas.openxmlformats.org/officeDocument/2006/relationships/image" Target="../media/image15.png"/><Relationship Id="rId6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jpg"/><Relationship Id="rId4" Type="http://schemas.openxmlformats.org/officeDocument/2006/relationships/hyperlink" Target="http://drive.google.com/file/d/1UnYSi2XTTXgybYjoutjm0-4BgmKRlQ-P/view" TargetMode="External"/><Relationship Id="rId5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7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nimatedsailboat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0588" y="761899"/>
            <a:ext cx="2482824" cy="18621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0" y="2178800"/>
            <a:ext cx="9144000" cy="3255000"/>
          </a:xfrm>
          <a:prstGeom prst="rect">
            <a:avLst/>
          </a:prstGeom>
          <a:solidFill>
            <a:srgbClr val="75E7FF"/>
          </a:solidFill>
          <a:ln>
            <a:noFill/>
          </a:ln>
          <a:effectLst>
            <a:reflection blurRad="0" dir="5400000" dist="38100" endA="0" endPos="30000" fadeDir="5400012" kx="0" rotWithShape="0" algn="bl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>
            <p:ph type="title"/>
          </p:nvPr>
        </p:nvSpPr>
        <p:spPr>
          <a:xfrm>
            <a:off x="5182950" y="4456525"/>
            <a:ext cx="3536700" cy="4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E39E40"/>
                </a:solidFill>
                <a:latin typeface="Lexend"/>
                <a:ea typeface="Lexend"/>
                <a:cs typeface="Lexend"/>
                <a:sym typeface="Lexend"/>
              </a:rPr>
              <a:t>By: Jovy Ann Nelson and Loc Hoang</a:t>
            </a:r>
            <a:endParaRPr b="1" sz="1400">
              <a:solidFill>
                <a:srgbClr val="E39E4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311700" y="2408650"/>
            <a:ext cx="8520600" cy="14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0">
                <a:solidFill>
                  <a:srgbClr val="015C72"/>
                </a:solidFill>
                <a:latin typeface="Alexandria Black"/>
                <a:ea typeface="Alexandria Black"/>
                <a:cs typeface="Alexandria Black"/>
                <a:sym typeface="Alexandria Black"/>
              </a:rPr>
              <a:t>WINDBAY </a:t>
            </a:r>
            <a:endParaRPr sz="4000">
              <a:solidFill>
                <a:srgbClr val="015C72"/>
              </a:solidFill>
              <a:latin typeface="Alexandria Black"/>
              <a:ea typeface="Alexandria Black"/>
              <a:cs typeface="Alexandria Black"/>
              <a:sym typeface="Alexandria Black"/>
            </a:endParaRPr>
          </a:p>
          <a:p>
            <a:pPr indent="0" lvl="0" marL="0" rtl="0" algn="ctr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015C72"/>
                </a:solidFill>
                <a:latin typeface="Alexandria Black"/>
                <a:ea typeface="Alexandria Black"/>
                <a:cs typeface="Alexandria Black"/>
                <a:sym typeface="Alexandria Black"/>
              </a:rPr>
              <a:t>ONLINE MARKETPLACE</a:t>
            </a:r>
            <a:endParaRPr b="1" sz="4000">
              <a:solidFill>
                <a:srgbClr val="015C72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15C72"/>
                </a:solidFill>
                <a:latin typeface="Alexandria"/>
                <a:ea typeface="Alexandria"/>
                <a:cs typeface="Alexandria"/>
                <a:sym typeface="Alexandria"/>
              </a:rPr>
              <a:t>DATABASE REQUIREMENTS</a:t>
            </a:r>
            <a:endParaRPr b="1">
              <a:solidFill>
                <a:srgbClr val="015C72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43725" y="1049750"/>
            <a:ext cx="85206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698500" rtl="0" algn="l">
              <a:spcBef>
                <a:spcPts val="1200"/>
              </a:spcBef>
              <a:spcAft>
                <a:spcPts val="0"/>
              </a:spcAft>
              <a:buClr>
                <a:srgbClr val="2D3B45"/>
              </a:buClr>
              <a:buSzPts val="1200"/>
              <a:buChar char="■"/>
            </a:pPr>
            <a:r>
              <a:rPr b="1" lang="en" sz="1200">
                <a:solidFill>
                  <a:srgbClr val="2D3B45"/>
                </a:solidFill>
                <a:highlight>
                  <a:srgbClr val="FFFFFF"/>
                </a:highlight>
              </a:rPr>
              <a:t>Have a minimum of 6 entities</a:t>
            </a:r>
            <a:endParaRPr b="1" sz="12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-304800" lvl="0" marL="698500" rtl="0" algn="l">
              <a:spcBef>
                <a:spcPts val="0"/>
              </a:spcBef>
              <a:spcAft>
                <a:spcPts val="0"/>
              </a:spcAft>
              <a:buClr>
                <a:srgbClr val="2D3B45"/>
              </a:buClr>
              <a:buSzPts val="1200"/>
              <a:buChar char="■"/>
            </a:pPr>
            <a:r>
              <a:rPr b="1" lang="en" sz="1200">
                <a:solidFill>
                  <a:srgbClr val="2D3B45"/>
                </a:solidFill>
                <a:highlight>
                  <a:srgbClr val="FFFFFF"/>
                </a:highlight>
              </a:rPr>
              <a:t>Crows feet notation must be used</a:t>
            </a:r>
            <a:endParaRPr b="1" sz="12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-304800" lvl="0" marL="698500" rtl="0" algn="l">
              <a:spcBef>
                <a:spcPts val="0"/>
              </a:spcBef>
              <a:spcAft>
                <a:spcPts val="0"/>
              </a:spcAft>
              <a:buClr>
                <a:srgbClr val="2D3B45"/>
              </a:buClr>
              <a:buSzPts val="1200"/>
              <a:buChar char="■"/>
            </a:pPr>
            <a:r>
              <a:rPr b="1" lang="en" sz="1200">
                <a:solidFill>
                  <a:srgbClr val="2D3B45"/>
                </a:solidFill>
                <a:highlight>
                  <a:srgbClr val="FFFFFF"/>
                </a:highlight>
              </a:rPr>
              <a:t>Cardinality must be defined, including relationship and attributes minimums and maximums</a:t>
            </a:r>
            <a:endParaRPr b="1" sz="12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-304800" lvl="0" marL="698500" rtl="0" algn="l">
              <a:spcBef>
                <a:spcPts val="0"/>
              </a:spcBef>
              <a:spcAft>
                <a:spcPts val="0"/>
              </a:spcAft>
              <a:buClr>
                <a:srgbClr val="2D3B45"/>
              </a:buClr>
              <a:buSzPts val="1200"/>
              <a:buChar char="■"/>
            </a:pPr>
            <a:r>
              <a:rPr b="1" lang="en" sz="1200">
                <a:solidFill>
                  <a:srgbClr val="2D3B45"/>
                </a:solidFill>
                <a:highlight>
                  <a:srgbClr val="FFFFFF"/>
                </a:highlight>
              </a:rPr>
              <a:t>Unique values should be indicated for Attributes</a:t>
            </a:r>
            <a:endParaRPr b="1" sz="12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-304800" lvl="0" marL="698500" rtl="0" algn="l">
              <a:spcBef>
                <a:spcPts val="0"/>
              </a:spcBef>
              <a:spcAft>
                <a:spcPts val="0"/>
              </a:spcAft>
              <a:buClr>
                <a:srgbClr val="2D3B45"/>
              </a:buClr>
              <a:buSzPts val="1200"/>
              <a:buChar char="■"/>
            </a:pPr>
            <a:r>
              <a:rPr b="1" lang="en" sz="1200">
                <a:solidFill>
                  <a:srgbClr val="2D3B45"/>
                </a:solidFill>
                <a:highlight>
                  <a:srgbClr val="FFFFFF"/>
                </a:highlight>
              </a:rPr>
              <a:t>Documentation</a:t>
            </a:r>
            <a:r>
              <a:rPr b="1" lang="en" sz="1200">
                <a:solidFill>
                  <a:srgbClr val="2D3B45"/>
                </a:solidFill>
                <a:highlight>
                  <a:srgbClr val="FFFFFF"/>
                </a:highlight>
              </a:rPr>
              <a:t> which are Strong and weak entities, including any Supertype and Subtype entities.</a:t>
            </a:r>
            <a:endParaRPr b="1" sz="12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5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43725" y="2258525"/>
            <a:ext cx="8217000" cy="27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E39E40"/>
                </a:solidFill>
                <a:latin typeface="Alexandria"/>
                <a:ea typeface="Alexandria"/>
                <a:cs typeface="Alexandria"/>
                <a:sym typeface="Alexandria"/>
              </a:rPr>
              <a:t>IN ADDITION:</a:t>
            </a:r>
            <a:endParaRPr b="1" sz="1200">
              <a:solidFill>
                <a:srgbClr val="E39E40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-304800" lvl="0" marL="698500" rtl="0" algn="l">
              <a:spcBef>
                <a:spcPts val="500"/>
              </a:spcBef>
              <a:spcAft>
                <a:spcPts val="0"/>
              </a:spcAft>
              <a:buClr>
                <a:srgbClr val="2D3B45"/>
              </a:buClr>
              <a:buSzPts val="1200"/>
              <a:buChar char="■"/>
            </a:pPr>
            <a:r>
              <a:rPr b="1" lang="en" sz="1200">
                <a:solidFill>
                  <a:srgbClr val="2D3B45"/>
                </a:solidFill>
              </a:rPr>
              <a:t>List which products we currently have in inventory</a:t>
            </a:r>
            <a:endParaRPr b="1" sz="1200">
              <a:solidFill>
                <a:srgbClr val="2D3B45"/>
              </a:solidFill>
            </a:endParaRPr>
          </a:p>
          <a:p>
            <a:pPr indent="-304800" lvl="0" marL="698500" rtl="0" algn="l">
              <a:spcBef>
                <a:spcPts val="500"/>
              </a:spcBef>
              <a:spcAft>
                <a:spcPts val="0"/>
              </a:spcAft>
              <a:buClr>
                <a:srgbClr val="2D3B45"/>
              </a:buClr>
              <a:buSzPts val="1200"/>
              <a:buChar char="■"/>
            </a:pPr>
            <a:r>
              <a:rPr b="1" lang="en" sz="1200">
                <a:solidFill>
                  <a:srgbClr val="2D3B45"/>
                </a:solidFill>
              </a:rPr>
              <a:t>Create new products</a:t>
            </a:r>
            <a:endParaRPr b="1" sz="1200">
              <a:solidFill>
                <a:srgbClr val="2D3B45"/>
              </a:solidFill>
            </a:endParaRPr>
          </a:p>
          <a:p>
            <a:pPr indent="-304800" lvl="0" marL="698500" rtl="0" algn="l">
              <a:spcBef>
                <a:spcPts val="0"/>
              </a:spcBef>
              <a:spcAft>
                <a:spcPts val="0"/>
              </a:spcAft>
              <a:buClr>
                <a:srgbClr val="2D3B45"/>
              </a:buClr>
              <a:buSzPts val="1200"/>
              <a:buChar char="■"/>
            </a:pPr>
            <a:r>
              <a:rPr b="1" lang="en" sz="1200">
                <a:solidFill>
                  <a:srgbClr val="2D3B45"/>
                </a:solidFill>
              </a:rPr>
              <a:t>Modify the amount of a particular product that we have in inventory</a:t>
            </a:r>
            <a:endParaRPr b="1" sz="1200">
              <a:solidFill>
                <a:srgbClr val="2D3B45"/>
              </a:solidFill>
            </a:endParaRPr>
          </a:p>
          <a:p>
            <a:pPr indent="-304800" lvl="0" marL="698500" rtl="0" algn="l">
              <a:spcBef>
                <a:spcPts val="0"/>
              </a:spcBef>
              <a:spcAft>
                <a:spcPts val="0"/>
              </a:spcAft>
              <a:buClr>
                <a:srgbClr val="2D3B45"/>
              </a:buClr>
              <a:buSzPts val="1200"/>
              <a:buChar char="■"/>
            </a:pPr>
            <a:r>
              <a:rPr b="1" lang="en" sz="1200">
                <a:solidFill>
                  <a:srgbClr val="2D3B45"/>
                </a:solidFill>
              </a:rPr>
              <a:t>Delete a product from inventory</a:t>
            </a:r>
            <a:endParaRPr b="1" sz="1200">
              <a:solidFill>
                <a:srgbClr val="2D3B45"/>
              </a:solidFill>
            </a:endParaRPr>
          </a:p>
          <a:p>
            <a:pPr indent="-304800" lvl="0" marL="698500" rtl="0" algn="l">
              <a:spcBef>
                <a:spcPts val="0"/>
              </a:spcBef>
              <a:spcAft>
                <a:spcPts val="0"/>
              </a:spcAft>
              <a:buClr>
                <a:srgbClr val="2D3B45"/>
              </a:buClr>
              <a:buSzPts val="1200"/>
              <a:buChar char="■"/>
            </a:pPr>
            <a:r>
              <a:rPr b="1" lang="en" sz="1200">
                <a:solidFill>
                  <a:srgbClr val="2D3B45"/>
                </a:solidFill>
              </a:rPr>
              <a:t>Get a list of the most popular products for a given time range.</a:t>
            </a:r>
            <a:endParaRPr b="1" sz="1200">
              <a:solidFill>
                <a:srgbClr val="2D3B45"/>
              </a:solidFill>
            </a:endParaRPr>
          </a:p>
          <a:p>
            <a:pPr indent="-304800" lvl="0" marL="698500" rtl="0" algn="l">
              <a:spcBef>
                <a:spcPts val="0"/>
              </a:spcBef>
              <a:spcAft>
                <a:spcPts val="0"/>
              </a:spcAft>
              <a:buClr>
                <a:srgbClr val="2D3B45"/>
              </a:buClr>
              <a:buSzPts val="1200"/>
              <a:buChar char="■"/>
            </a:pPr>
            <a:r>
              <a:rPr b="1" lang="en" sz="1200">
                <a:solidFill>
                  <a:srgbClr val="2D3B45"/>
                </a:solidFill>
              </a:rPr>
              <a:t>Get a list of the least popular products for a given time range.</a:t>
            </a:r>
            <a:endParaRPr b="1" sz="1200">
              <a:solidFill>
                <a:srgbClr val="2D3B45"/>
              </a:solidFill>
            </a:endParaRPr>
          </a:p>
          <a:p>
            <a:pPr indent="-304800" lvl="0" marL="698500" rtl="0" algn="l">
              <a:spcBef>
                <a:spcPts val="0"/>
              </a:spcBef>
              <a:spcAft>
                <a:spcPts val="0"/>
              </a:spcAft>
              <a:buClr>
                <a:srgbClr val="2D3B45"/>
              </a:buClr>
              <a:buSzPts val="1200"/>
              <a:buChar char="■"/>
            </a:pPr>
            <a:r>
              <a:rPr b="1" lang="en" sz="1200">
                <a:solidFill>
                  <a:srgbClr val="2D3B45"/>
                </a:solidFill>
              </a:rPr>
              <a:t>Get a list of users who haven’t purchased something in a few months to send promotional emails to</a:t>
            </a:r>
            <a:endParaRPr b="1" sz="1200">
              <a:solidFill>
                <a:srgbClr val="2D3B45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2D3B45"/>
              </a:buClr>
              <a:buSzPts val="1200"/>
              <a:buAutoNum type="alphaLcPeriod"/>
            </a:pPr>
            <a:r>
              <a:rPr b="1" lang="en" sz="1200">
                <a:solidFill>
                  <a:srgbClr val="2D3B45"/>
                </a:solidFill>
              </a:rPr>
              <a:t>Send them promotional item of items they bought in the past.</a:t>
            </a:r>
            <a:endParaRPr b="1" sz="1200">
              <a:solidFill>
                <a:srgbClr val="2D3B45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2D3B45"/>
              </a:buClr>
              <a:buSzPts val="1200"/>
              <a:buAutoNum type="alphaLcPeriod"/>
            </a:pPr>
            <a:r>
              <a:rPr b="1" lang="en" sz="1200">
                <a:solidFill>
                  <a:srgbClr val="2D3B45"/>
                </a:solidFill>
              </a:rPr>
              <a:t>EXTRA CREDIT: To send top 5 most popular items as promotional email to buyers who has not purchased any products.</a:t>
            </a:r>
            <a:endParaRPr b="1" sz="1200">
              <a:solidFill>
                <a:srgbClr val="2D3B45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Alexandria"/>
                <a:ea typeface="Alexandria"/>
                <a:cs typeface="Alexandria"/>
                <a:sym typeface="Alexandria"/>
              </a:rPr>
              <a:t>ANALYSIS PHASE</a:t>
            </a:r>
            <a:endParaRPr b="1">
              <a:solidFill>
                <a:schemeClr val="lt1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50125" y="805875"/>
            <a:ext cx="3908700" cy="39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698500" rtl="0" algn="l">
              <a:spcBef>
                <a:spcPts val="1200"/>
              </a:spcBef>
              <a:spcAft>
                <a:spcPts val="0"/>
              </a:spcAft>
              <a:buClr>
                <a:srgbClr val="FF9900"/>
              </a:buClr>
              <a:buSzPts val="1400"/>
              <a:buFont typeface="Alexandria"/>
              <a:buChar char="■"/>
            </a:pPr>
            <a:r>
              <a:rPr b="1" lang="en" sz="1400">
                <a:solidFill>
                  <a:srgbClr val="FF9900"/>
                </a:solidFill>
                <a:latin typeface="Alexandria"/>
                <a:ea typeface="Alexandria"/>
                <a:cs typeface="Alexandria"/>
                <a:sym typeface="Alexandria"/>
              </a:rPr>
              <a:t>Entities:</a:t>
            </a:r>
            <a:endParaRPr b="1" sz="1400">
              <a:solidFill>
                <a:srgbClr val="FF9900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lphaLcPeriod"/>
            </a:pPr>
            <a:r>
              <a:rPr b="1" lang="en" sz="1200">
                <a:solidFill>
                  <a:schemeClr val="lt1"/>
                </a:solidFill>
              </a:rPr>
              <a:t>User</a:t>
            </a:r>
            <a:endParaRPr b="1" sz="1200">
              <a:solidFill>
                <a:schemeClr val="lt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lphaLcPeriod"/>
            </a:pPr>
            <a:r>
              <a:rPr b="1" lang="en" sz="1200">
                <a:solidFill>
                  <a:schemeClr val="lt1"/>
                </a:solidFill>
              </a:rPr>
              <a:t>Review</a:t>
            </a:r>
            <a:endParaRPr b="1" sz="1200">
              <a:solidFill>
                <a:schemeClr val="lt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lphaLcPeriod"/>
            </a:pPr>
            <a:r>
              <a:rPr b="1" lang="en" sz="1200">
                <a:solidFill>
                  <a:schemeClr val="lt1"/>
                </a:solidFill>
              </a:rPr>
              <a:t>Transaction</a:t>
            </a:r>
            <a:endParaRPr b="1" sz="1200">
              <a:solidFill>
                <a:schemeClr val="lt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lphaLcPeriod"/>
            </a:pPr>
            <a:r>
              <a:rPr b="1" lang="en" sz="1200">
                <a:solidFill>
                  <a:schemeClr val="lt1"/>
                </a:solidFill>
              </a:rPr>
              <a:t>Product</a:t>
            </a:r>
            <a:endParaRPr b="1" sz="1200">
              <a:solidFill>
                <a:schemeClr val="lt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lphaLcPeriod"/>
            </a:pPr>
            <a:r>
              <a:rPr b="1" lang="en" sz="1200">
                <a:solidFill>
                  <a:schemeClr val="lt1"/>
                </a:solidFill>
              </a:rPr>
              <a:t>Inventory</a:t>
            </a:r>
            <a:endParaRPr b="1" sz="1200">
              <a:solidFill>
                <a:schemeClr val="lt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lphaLcPeriod"/>
            </a:pPr>
            <a:r>
              <a:rPr b="1" lang="en" sz="1200">
                <a:solidFill>
                  <a:schemeClr val="lt1"/>
                </a:solidFill>
              </a:rPr>
              <a:t>Shipping Info</a:t>
            </a:r>
            <a:endParaRPr b="1" sz="1200">
              <a:solidFill>
                <a:schemeClr val="lt1"/>
              </a:solidFill>
            </a:endParaRPr>
          </a:p>
          <a:p>
            <a:pPr indent="-317500" lvl="0" marL="6985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400"/>
              <a:buFont typeface="Alexandria"/>
              <a:buChar char="■"/>
            </a:pPr>
            <a:r>
              <a:rPr b="1" lang="en" sz="1400">
                <a:solidFill>
                  <a:srgbClr val="FF9900"/>
                </a:solidFill>
                <a:latin typeface="Alexandria"/>
                <a:ea typeface="Alexandria"/>
                <a:cs typeface="Alexandria"/>
                <a:sym typeface="Alexandria"/>
              </a:rPr>
              <a:t>Supertype and Subtypes:</a:t>
            </a:r>
            <a:endParaRPr b="1" sz="1400">
              <a:solidFill>
                <a:srgbClr val="FF9900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lphaLcPeriod"/>
            </a:pPr>
            <a:r>
              <a:rPr b="1" lang="en" sz="1200">
                <a:solidFill>
                  <a:schemeClr val="lt1"/>
                </a:solidFill>
              </a:rPr>
              <a:t>Supertype: User</a:t>
            </a:r>
            <a:endParaRPr b="1" sz="1200">
              <a:solidFill>
                <a:schemeClr val="lt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AutoNum type="alphaLcPeriod"/>
            </a:pPr>
            <a:r>
              <a:rPr b="1" lang="en" sz="1200">
                <a:solidFill>
                  <a:schemeClr val="lt1"/>
                </a:solidFill>
              </a:rPr>
              <a:t>Subtypes: Seller and Buyer</a:t>
            </a:r>
            <a:endParaRPr b="1" sz="1200">
              <a:solidFill>
                <a:schemeClr val="lt1"/>
              </a:solidFill>
            </a:endParaRPr>
          </a:p>
          <a:p>
            <a:pPr indent="-317500" lvl="0" marL="6985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400"/>
              <a:buFont typeface="Alexandria"/>
              <a:buChar char="■"/>
            </a:pPr>
            <a:r>
              <a:rPr b="1" lang="en" sz="1400">
                <a:solidFill>
                  <a:srgbClr val="FF9900"/>
                </a:solidFill>
                <a:latin typeface="Alexandria"/>
                <a:ea typeface="Alexandria"/>
                <a:cs typeface="Alexandria"/>
                <a:sym typeface="Alexandria"/>
              </a:rPr>
              <a:t>Strong and Weak Entities</a:t>
            </a:r>
            <a:endParaRPr b="1" sz="1400">
              <a:solidFill>
                <a:srgbClr val="FF9900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spcBef>
                <a:spcPts val="5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7875" y="3316050"/>
            <a:ext cx="3441876" cy="166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31400" y="1194475"/>
            <a:ext cx="3243827" cy="226695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4723650" y="805875"/>
            <a:ext cx="3908700" cy="21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698500" rtl="0" algn="l">
              <a:spcBef>
                <a:spcPts val="1200"/>
              </a:spcBef>
              <a:spcAft>
                <a:spcPts val="0"/>
              </a:spcAft>
              <a:buClr>
                <a:srgbClr val="FF9900"/>
              </a:buClr>
              <a:buSzPts val="1400"/>
              <a:buFont typeface="Alexandria"/>
              <a:buChar char="■"/>
            </a:pPr>
            <a:r>
              <a:rPr b="1" lang="en" sz="1400">
                <a:solidFill>
                  <a:srgbClr val="FF9900"/>
                </a:solidFill>
                <a:latin typeface="Alexandria"/>
                <a:ea typeface="Alexandria"/>
                <a:cs typeface="Alexandria"/>
                <a:sym typeface="Alexandria"/>
              </a:rPr>
              <a:t>Cardinality</a:t>
            </a:r>
            <a:r>
              <a:rPr b="1" lang="en" sz="1400">
                <a:solidFill>
                  <a:srgbClr val="FF9900"/>
                </a:solidFill>
                <a:latin typeface="Alexandria"/>
                <a:ea typeface="Alexandria"/>
                <a:cs typeface="Alexandria"/>
                <a:sym typeface="Alexandria"/>
              </a:rPr>
              <a:t>:</a:t>
            </a:r>
            <a:endParaRPr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5C72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Alexandria"/>
                <a:ea typeface="Alexandria"/>
                <a:cs typeface="Alexandria"/>
                <a:sym typeface="Alexandria"/>
              </a:rPr>
              <a:t>UNNORMALIZED AND NORMALIZED MODEL</a:t>
            </a:r>
            <a:endParaRPr b="1">
              <a:solidFill>
                <a:schemeClr val="lt1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pic>
        <p:nvPicPr>
          <p:cNvPr id="79" name="Google Shape;79;p16"/>
          <p:cNvPicPr preferRelativeResize="0"/>
          <p:nvPr/>
        </p:nvPicPr>
        <p:blipFill rotWithShape="1">
          <a:blip r:embed="rId3">
            <a:alphaModFix/>
          </a:blip>
          <a:srcRect b="61352" l="23792" r="0" t="0"/>
          <a:stretch/>
        </p:blipFill>
        <p:spPr>
          <a:xfrm>
            <a:off x="1495263" y="1117150"/>
            <a:ext cx="6153475" cy="33974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15C72"/>
                </a:solidFill>
                <a:latin typeface="Alexandria"/>
                <a:ea typeface="Alexandria"/>
                <a:cs typeface="Alexandria"/>
                <a:sym typeface="Alexandria"/>
              </a:rPr>
              <a:t>DATABASE DESIGN FROM </a:t>
            </a:r>
            <a:r>
              <a:rPr b="1" lang="en">
                <a:solidFill>
                  <a:srgbClr val="015C72"/>
                </a:solidFill>
                <a:latin typeface="Alexandria"/>
                <a:ea typeface="Alexandria"/>
                <a:cs typeface="Alexandria"/>
                <a:sym typeface="Alexandria"/>
              </a:rPr>
              <a:t>THE ERD</a:t>
            </a:r>
            <a:endParaRPr b="1">
              <a:solidFill>
                <a:srgbClr val="015C72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pic>
        <p:nvPicPr>
          <p:cNvPr id="85" name="Google Shape;85;p17"/>
          <p:cNvPicPr preferRelativeResize="0"/>
          <p:nvPr/>
        </p:nvPicPr>
        <p:blipFill rotWithShape="1">
          <a:blip r:embed="rId3">
            <a:alphaModFix/>
          </a:blip>
          <a:srcRect b="61352" l="23792" r="0" t="0"/>
          <a:stretch/>
        </p:blipFill>
        <p:spPr>
          <a:xfrm>
            <a:off x="311700" y="1098100"/>
            <a:ext cx="4170398" cy="23025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/>
          <p:cNvPicPr preferRelativeResize="0"/>
          <p:nvPr/>
        </p:nvPicPr>
        <p:blipFill rotWithShape="1">
          <a:blip r:embed="rId3">
            <a:alphaModFix/>
          </a:blip>
          <a:srcRect b="0" l="0" r="9239" t="45890"/>
          <a:stretch/>
        </p:blipFill>
        <p:spPr>
          <a:xfrm>
            <a:off x="4572000" y="1907368"/>
            <a:ext cx="4260300" cy="276525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/>
        </p:nvSpPr>
        <p:spPr>
          <a:xfrm>
            <a:off x="1112750" y="3617325"/>
            <a:ext cx="2568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3D85C6"/>
                </a:solidFill>
                <a:latin typeface="Lexend"/>
                <a:ea typeface="Lexend"/>
                <a:cs typeface="Lexend"/>
                <a:sym typeface="Lexend"/>
              </a:rPr>
              <a:t>WindBay ERD</a:t>
            </a:r>
            <a:endParaRPr b="1" sz="2400">
              <a:solidFill>
                <a:srgbClr val="3D85C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1753000" y="889725"/>
            <a:ext cx="82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39E40"/>
                </a:solidFill>
              </a:rPr>
              <a:t>Supertype</a:t>
            </a:r>
            <a:endParaRPr b="1" sz="1000">
              <a:solidFill>
                <a:srgbClr val="E39E40"/>
              </a:solidFill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915075" y="2402400"/>
            <a:ext cx="69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39E40"/>
                </a:solidFill>
              </a:rPr>
              <a:t>Subtype</a:t>
            </a:r>
            <a:endParaRPr b="1" sz="1000">
              <a:solidFill>
                <a:srgbClr val="E39E40"/>
              </a:solidFill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3458700" y="2402400"/>
            <a:ext cx="69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39E40"/>
                </a:solidFill>
              </a:rPr>
              <a:t>Subtype</a:t>
            </a:r>
            <a:endParaRPr b="1" sz="1000">
              <a:solidFill>
                <a:srgbClr val="E39E40"/>
              </a:solidFill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4298000" y="1325725"/>
            <a:ext cx="4428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39E40"/>
                </a:solidFill>
                <a:latin typeface="Alexandria"/>
                <a:ea typeface="Alexandria"/>
                <a:cs typeface="Alexandria"/>
                <a:sym typeface="Alexandria"/>
              </a:rPr>
              <a:t>ENTITIES: </a:t>
            </a:r>
            <a:r>
              <a:rPr b="1" lang="en" sz="1000">
                <a:solidFill>
                  <a:srgbClr val="015C72"/>
                </a:solidFill>
              </a:rPr>
              <a:t>User, Review, Transaction, Shipping Info, Product, and Inventory</a:t>
            </a:r>
            <a:endParaRPr b="1" sz="1000">
              <a:solidFill>
                <a:srgbClr val="015C7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1" lang="en" sz="1000">
                <a:solidFill>
                  <a:srgbClr val="015C72"/>
                </a:solidFill>
              </a:rPr>
            </a:br>
            <a:r>
              <a:rPr b="1" lang="en" sz="1000">
                <a:solidFill>
                  <a:srgbClr val="E39E40"/>
                </a:solidFill>
                <a:latin typeface="Alexandria"/>
                <a:ea typeface="Alexandria"/>
                <a:cs typeface="Alexandria"/>
                <a:sym typeface="Alexandria"/>
              </a:rPr>
              <a:t>ATTRIBUTES: </a:t>
            </a:r>
            <a:r>
              <a:rPr b="1" lang="en" sz="1000">
                <a:solidFill>
                  <a:srgbClr val="015C72"/>
                </a:solidFill>
              </a:rPr>
              <a:t>Date, Price, Address, etc.</a:t>
            </a:r>
            <a:endParaRPr b="1" sz="1000">
              <a:solidFill>
                <a:srgbClr val="E39E40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E39E40"/>
              </a:solidFill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5244925" y="3515500"/>
            <a:ext cx="1791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39E40"/>
                </a:solidFill>
                <a:latin typeface="Alexandria"/>
                <a:ea typeface="Alexandria"/>
                <a:cs typeface="Alexandria"/>
                <a:sym typeface="Alexandria"/>
              </a:rPr>
              <a:t>RELATIONSHIPS: </a:t>
            </a:r>
            <a:endParaRPr b="1" sz="1000">
              <a:solidFill>
                <a:srgbClr val="015C72"/>
              </a:solidFill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15C72"/>
                </a:solidFill>
              </a:rPr>
              <a:t>Buyer &gt; Review</a:t>
            </a:r>
            <a:endParaRPr b="1" sz="1000">
              <a:solidFill>
                <a:srgbClr val="015C7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15C72"/>
                </a:solidFill>
              </a:rPr>
              <a:t>Buyer &gt; Tra</a:t>
            </a:r>
            <a:r>
              <a:rPr b="1" lang="en" sz="1000">
                <a:solidFill>
                  <a:srgbClr val="015C72"/>
                </a:solidFill>
              </a:rPr>
              <a:t>n</a:t>
            </a:r>
            <a:r>
              <a:rPr b="1" lang="en" sz="1000">
                <a:solidFill>
                  <a:srgbClr val="015C72"/>
                </a:solidFill>
              </a:rPr>
              <a:t>saction</a:t>
            </a:r>
            <a:endParaRPr b="1" sz="1000">
              <a:solidFill>
                <a:srgbClr val="015C7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15C72"/>
                </a:solidFill>
              </a:rPr>
              <a:t>Transaction &gt; Product</a:t>
            </a:r>
            <a:endParaRPr b="1" sz="1000">
              <a:solidFill>
                <a:srgbClr val="015C7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15C72"/>
                </a:solidFill>
              </a:rPr>
              <a:t>Transaction &gt; Shipping</a:t>
            </a:r>
            <a:endParaRPr b="1" sz="1000">
              <a:solidFill>
                <a:srgbClr val="015C7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15C72"/>
                </a:solidFill>
              </a:rPr>
              <a:t>Seller &gt; Product</a:t>
            </a:r>
            <a:endParaRPr b="1" sz="1000">
              <a:solidFill>
                <a:srgbClr val="015C7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15C72"/>
                </a:solidFill>
              </a:rPr>
              <a:t>Product &gt; Inventory</a:t>
            </a:r>
            <a:endParaRPr b="1" sz="1000">
              <a:solidFill>
                <a:srgbClr val="015C7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E39E4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5C72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Alexandria"/>
                <a:ea typeface="Alexandria"/>
                <a:cs typeface="Alexandria"/>
                <a:sym typeface="Alexandria"/>
              </a:rPr>
              <a:t>WINDBAY </a:t>
            </a:r>
            <a:r>
              <a:rPr b="1" lang="en">
                <a:solidFill>
                  <a:schemeClr val="lt1"/>
                </a:solidFill>
                <a:latin typeface="Alexandria"/>
                <a:ea typeface="Alexandria"/>
                <a:cs typeface="Alexandria"/>
                <a:sym typeface="Alexandria"/>
              </a:rPr>
              <a:t>DATABASE DESIGN</a:t>
            </a:r>
            <a:endParaRPr b="1">
              <a:solidFill>
                <a:schemeClr val="lt1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98" name="Google Shape;98;p18"/>
          <p:cNvSpPr txBox="1"/>
          <p:nvPr/>
        </p:nvSpPr>
        <p:spPr>
          <a:xfrm>
            <a:off x="3458700" y="908725"/>
            <a:ext cx="28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E39E40"/>
                </a:solidFill>
              </a:rPr>
              <a:t>SELLER &amp; BUYER (Subtypes)</a:t>
            </a:r>
            <a:endParaRPr b="1" sz="1200">
              <a:solidFill>
                <a:srgbClr val="E39E40"/>
              </a:solidFill>
            </a:endParaRPr>
          </a:p>
        </p:txBody>
      </p:sp>
      <p:sp>
        <p:nvSpPr>
          <p:cNvPr id="99" name="Google Shape;99;p18"/>
          <p:cNvSpPr txBox="1"/>
          <p:nvPr/>
        </p:nvSpPr>
        <p:spPr>
          <a:xfrm>
            <a:off x="465450" y="908725"/>
            <a:ext cx="167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E39E40"/>
                </a:solidFill>
              </a:rPr>
              <a:t>USER (Supertype)</a:t>
            </a:r>
            <a:endParaRPr b="1" sz="1200">
              <a:solidFill>
                <a:srgbClr val="E39E40"/>
              </a:solidFill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3458700" y="2402400"/>
            <a:ext cx="69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39E40"/>
                </a:solidFill>
              </a:rPr>
              <a:t>Subtype</a:t>
            </a:r>
            <a:endParaRPr b="1" sz="1000">
              <a:solidFill>
                <a:srgbClr val="E39E40"/>
              </a:solidFill>
            </a:endParaRPr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450" y="1247425"/>
            <a:ext cx="2881800" cy="2843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8700" y="1247425"/>
            <a:ext cx="5162412" cy="340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8"/>
          <p:cNvSpPr txBox="1"/>
          <p:nvPr/>
        </p:nvSpPr>
        <p:spPr>
          <a:xfrm>
            <a:off x="465475" y="4091050"/>
            <a:ext cx="288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75E7FF"/>
                </a:solidFill>
              </a:rPr>
              <a:t>Users can either be a buyer or seller but not both!</a:t>
            </a:r>
            <a:endParaRPr sz="1200">
              <a:solidFill>
                <a:srgbClr val="75E7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5C7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311700" y="410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Alexandria"/>
                <a:ea typeface="Alexandria"/>
                <a:cs typeface="Alexandria"/>
                <a:sym typeface="Alexandria"/>
              </a:rPr>
              <a:t>WINDBAY DATABASE DESIGN</a:t>
            </a:r>
            <a:endParaRPr b="1">
              <a:solidFill>
                <a:schemeClr val="lt1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09" name="Google Shape;109;p19"/>
          <p:cNvSpPr txBox="1"/>
          <p:nvPr/>
        </p:nvSpPr>
        <p:spPr>
          <a:xfrm>
            <a:off x="465450" y="908725"/>
            <a:ext cx="167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E39E40"/>
                </a:solidFill>
              </a:rPr>
              <a:t>Database Tables</a:t>
            </a:r>
            <a:endParaRPr b="1" sz="1200">
              <a:solidFill>
                <a:srgbClr val="E39E40"/>
              </a:solidFill>
            </a:endParaRPr>
          </a:p>
        </p:txBody>
      </p:sp>
      <p:pic>
        <p:nvPicPr>
          <p:cNvPr id="110" name="Google Shape;11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450" y="1278025"/>
            <a:ext cx="3856876" cy="310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908725"/>
            <a:ext cx="4260299" cy="2090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2999310"/>
            <a:ext cx="4260300" cy="2107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5C72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Alexandria"/>
                <a:ea typeface="Alexandria"/>
                <a:cs typeface="Alexandria"/>
                <a:sym typeface="Alexandria"/>
              </a:rPr>
              <a:t>PROCEDURES &amp; TRIGGERS</a:t>
            </a:r>
            <a:endParaRPr b="1">
              <a:solidFill>
                <a:schemeClr val="lt1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pic>
        <p:nvPicPr>
          <p:cNvPr id="118" name="Google Shape;11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96274"/>
            <a:ext cx="5407400" cy="234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3716375"/>
            <a:ext cx="3975275" cy="72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69300" y="1196275"/>
            <a:ext cx="3120100" cy="3781008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0"/>
          <p:cNvSpPr txBox="1"/>
          <p:nvPr/>
        </p:nvSpPr>
        <p:spPr>
          <a:xfrm>
            <a:off x="311700" y="895100"/>
            <a:ext cx="155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E39E40"/>
                </a:solidFill>
              </a:rPr>
              <a:t>PROCEDURE:</a:t>
            </a:r>
            <a:endParaRPr b="1" sz="1200">
              <a:solidFill>
                <a:srgbClr val="E39E40"/>
              </a:solidFill>
            </a:endParaRPr>
          </a:p>
        </p:txBody>
      </p:sp>
      <p:sp>
        <p:nvSpPr>
          <p:cNvPr id="122" name="Google Shape;122;p20"/>
          <p:cNvSpPr txBox="1"/>
          <p:nvPr/>
        </p:nvSpPr>
        <p:spPr>
          <a:xfrm>
            <a:off x="5769300" y="895100"/>
            <a:ext cx="155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E39E40"/>
                </a:solidFill>
              </a:rPr>
              <a:t>TRIGGER:</a:t>
            </a:r>
            <a:endParaRPr b="1" sz="1200">
              <a:solidFill>
                <a:srgbClr val="E39E4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5C72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Alexandria"/>
                <a:ea typeface="Alexandria"/>
                <a:cs typeface="Alexandria"/>
                <a:sym typeface="Alexandria"/>
              </a:rPr>
              <a:t>DEMO as a BUYER</a:t>
            </a:r>
            <a:endParaRPr b="1">
              <a:solidFill>
                <a:schemeClr val="lt1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pic>
        <p:nvPicPr>
          <p:cNvPr id="128" name="Google Shape;12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625" y="1160600"/>
            <a:ext cx="3741025" cy="209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1"/>
          <p:cNvSpPr txBox="1"/>
          <p:nvPr/>
        </p:nvSpPr>
        <p:spPr>
          <a:xfrm>
            <a:off x="428625" y="836600"/>
            <a:ext cx="319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E39E40"/>
                </a:solidFill>
              </a:rPr>
              <a:t>BUYER DASHBOARD:</a:t>
            </a:r>
            <a:endParaRPr b="1">
              <a:solidFill>
                <a:srgbClr val="E39E40"/>
              </a:solidFill>
            </a:endParaRPr>
          </a:p>
        </p:txBody>
      </p:sp>
      <p:pic>
        <p:nvPicPr>
          <p:cNvPr id="130" name="Google Shape;13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3299525"/>
            <a:ext cx="3165797" cy="174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1"/>
          <p:cNvSpPr txBox="1"/>
          <p:nvPr/>
        </p:nvSpPr>
        <p:spPr>
          <a:xfrm>
            <a:off x="4855450" y="379250"/>
            <a:ext cx="319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E39E40"/>
                </a:solidFill>
              </a:rPr>
              <a:t>Search item(s) to buy:</a:t>
            </a:r>
            <a:endParaRPr b="1">
              <a:solidFill>
                <a:srgbClr val="E39E40"/>
              </a:solidFill>
            </a:endParaRPr>
          </a:p>
        </p:txBody>
      </p:sp>
      <p:pic>
        <p:nvPicPr>
          <p:cNvPr id="132" name="Google Shape;13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96850" y="694500"/>
            <a:ext cx="3719176" cy="4353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1"/>
          <p:cNvSpPr txBox="1"/>
          <p:nvPr/>
        </p:nvSpPr>
        <p:spPr>
          <a:xfrm>
            <a:off x="2565950" y="3778125"/>
            <a:ext cx="213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E39E40"/>
                </a:solidFill>
              </a:rPr>
              <a:t>&lt;- Invalid Item Search</a:t>
            </a:r>
            <a:endParaRPr b="1">
              <a:solidFill>
                <a:srgbClr val="E39E4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5C72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Alexandria"/>
                <a:ea typeface="Alexandria"/>
                <a:cs typeface="Alexandria"/>
                <a:sym typeface="Alexandria"/>
              </a:rPr>
              <a:t>DEMO as a BUYER</a:t>
            </a:r>
            <a:endParaRPr b="1">
              <a:solidFill>
                <a:schemeClr val="lt1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39" name="Google Shape;139;p22"/>
          <p:cNvSpPr txBox="1"/>
          <p:nvPr/>
        </p:nvSpPr>
        <p:spPr>
          <a:xfrm>
            <a:off x="311700" y="836600"/>
            <a:ext cx="460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E39E40"/>
                </a:solidFill>
              </a:rPr>
              <a:t>QUANTITY Available changed because of Trigger!</a:t>
            </a:r>
            <a:endParaRPr b="1">
              <a:solidFill>
                <a:srgbClr val="E39E40"/>
              </a:solidFill>
            </a:endParaRPr>
          </a:p>
        </p:txBody>
      </p:sp>
      <p:sp>
        <p:nvSpPr>
          <p:cNvPr id="140" name="Google Shape;140;p22"/>
          <p:cNvSpPr txBox="1"/>
          <p:nvPr/>
        </p:nvSpPr>
        <p:spPr>
          <a:xfrm>
            <a:off x="5019200" y="836600"/>
            <a:ext cx="293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E39E40"/>
                </a:solidFill>
              </a:rPr>
              <a:t>BEFORE TRANSACTION:</a:t>
            </a:r>
            <a:endParaRPr b="1">
              <a:solidFill>
                <a:srgbClr val="E39E40"/>
              </a:solidFill>
            </a:endParaRPr>
          </a:p>
        </p:txBody>
      </p:sp>
      <p:pic>
        <p:nvPicPr>
          <p:cNvPr id="141" name="Google Shape;141;p22"/>
          <p:cNvPicPr preferRelativeResize="0"/>
          <p:nvPr/>
        </p:nvPicPr>
        <p:blipFill rotWithShape="1">
          <a:blip r:embed="rId3">
            <a:alphaModFix/>
          </a:blip>
          <a:srcRect b="56881" l="0" r="0" t="0"/>
          <a:stretch/>
        </p:blipFill>
        <p:spPr>
          <a:xfrm>
            <a:off x="5019200" y="1236798"/>
            <a:ext cx="3719176" cy="187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9200" y="1236800"/>
            <a:ext cx="4550649" cy="29900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5C72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Alexandria"/>
                <a:ea typeface="Alexandria"/>
                <a:cs typeface="Alexandria"/>
                <a:sym typeface="Alexandria"/>
              </a:rPr>
              <a:t>DEMO as a BUYER</a:t>
            </a:r>
            <a:endParaRPr b="1">
              <a:solidFill>
                <a:schemeClr val="lt1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48" name="Google Shape;148;p23"/>
          <p:cNvSpPr txBox="1"/>
          <p:nvPr/>
        </p:nvSpPr>
        <p:spPr>
          <a:xfrm>
            <a:off x="613800" y="823575"/>
            <a:ext cx="289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E39E40"/>
                </a:solidFill>
              </a:rPr>
              <a:t>Shipping Info:</a:t>
            </a:r>
            <a:endParaRPr b="1">
              <a:solidFill>
                <a:srgbClr val="E39E40"/>
              </a:solidFill>
            </a:endParaRPr>
          </a:p>
        </p:txBody>
      </p:sp>
      <p:sp>
        <p:nvSpPr>
          <p:cNvPr id="149" name="Google Shape;149;p23"/>
          <p:cNvSpPr txBox="1"/>
          <p:nvPr/>
        </p:nvSpPr>
        <p:spPr>
          <a:xfrm>
            <a:off x="4732975" y="294300"/>
            <a:ext cx="319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E39E40"/>
                </a:solidFill>
              </a:rPr>
              <a:t>Leaving a review:</a:t>
            </a:r>
            <a:endParaRPr b="1">
              <a:solidFill>
                <a:srgbClr val="E39E40"/>
              </a:solidFill>
            </a:endParaRPr>
          </a:p>
        </p:txBody>
      </p:sp>
      <p:pic>
        <p:nvPicPr>
          <p:cNvPr id="150" name="Google Shape;15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800" y="1223775"/>
            <a:ext cx="3161311" cy="3820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2974" y="694493"/>
            <a:ext cx="3638475" cy="4273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5C72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Alexandria"/>
                <a:ea typeface="Alexandria"/>
                <a:cs typeface="Alexandria"/>
                <a:sym typeface="Alexandria"/>
              </a:rPr>
              <a:t>DEMO as a SELLER</a:t>
            </a:r>
            <a:endParaRPr b="1">
              <a:solidFill>
                <a:schemeClr val="lt1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57" name="Google Shape;157;p24"/>
          <p:cNvSpPr txBox="1"/>
          <p:nvPr/>
        </p:nvSpPr>
        <p:spPr>
          <a:xfrm>
            <a:off x="311700" y="860100"/>
            <a:ext cx="289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E39E40"/>
                </a:solidFill>
              </a:rPr>
              <a:t>SELLER DASHBOARD:</a:t>
            </a:r>
            <a:endParaRPr b="1">
              <a:solidFill>
                <a:srgbClr val="E39E40"/>
              </a:solidFill>
            </a:endParaRPr>
          </a:p>
        </p:txBody>
      </p:sp>
      <p:sp>
        <p:nvSpPr>
          <p:cNvPr id="158" name="Google Shape;158;p24"/>
          <p:cNvSpPr txBox="1"/>
          <p:nvPr/>
        </p:nvSpPr>
        <p:spPr>
          <a:xfrm>
            <a:off x="4732975" y="294300"/>
            <a:ext cx="350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E39E40"/>
                </a:solidFill>
              </a:rPr>
              <a:t>INACTIVE USERS Promotional Email</a:t>
            </a:r>
            <a:endParaRPr b="1">
              <a:solidFill>
                <a:srgbClr val="E39E40"/>
              </a:solidFill>
            </a:endParaRPr>
          </a:p>
        </p:txBody>
      </p:sp>
      <p:pic>
        <p:nvPicPr>
          <p:cNvPr id="159" name="Google Shape;15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200" y="1179800"/>
            <a:ext cx="4045025" cy="278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2975" y="694500"/>
            <a:ext cx="2411295" cy="382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56445" y="694500"/>
            <a:ext cx="1694930" cy="33386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56450" y="4094000"/>
            <a:ext cx="1694925" cy="7789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Alexandria"/>
                <a:ea typeface="Alexandria"/>
                <a:cs typeface="Alexandria"/>
                <a:sym typeface="Alexandria"/>
              </a:rPr>
              <a:t>WINDBAY DEMO</a:t>
            </a:r>
            <a:endParaRPr b="1">
              <a:solidFill>
                <a:schemeClr val="lt1"/>
              </a:solidFill>
              <a:latin typeface="Alexandria"/>
              <a:ea typeface="Alexandria"/>
              <a:cs typeface="Alexandria"/>
              <a:sym typeface="Alexandria"/>
            </a:endParaRPr>
          </a:p>
        </p:txBody>
      </p:sp>
      <p:pic>
        <p:nvPicPr>
          <p:cNvPr id="168" name="Google Shape;168;p25" title="e_commerce.mov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86000" y="1276350"/>
            <a:ext cx="4572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5C72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 txBox="1"/>
          <p:nvPr>
            <p:ph type="title"/>
          </p:nvPr>
        </p:nvSpPr>
        <p:spPr>
          <a:xfrm>
            <a:off x="686600" y="1363400"/>
            <a:ext cx="5963400" cy="215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latin typeface="Alexandria"/>
                <a:ea typeface="Alexandria"/>
                <a:cs typeface="Alexandria"/>
                <a:sym typeface="Alexandria"/>
              </a:rPr>
              <a:t>ANY QUESTIONS?</a:t>
            </a:r>
            <a:endParaRPr b="1" sz="6000"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74" name="Google Shape;174;p26"/>
          <p:cNvSpPr txBox="1"/>
          <p:nvPr>
            <p:ph idx="1" type="body"/>
          </p:nvPr>
        </p:nvSpPr>
        <p:spPr>
          <a:xfrm>
            <a:off x="686600" y="3276700"/>
            <a:ext cx="4654800" cy="129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2400">
                <a:solidFill>
                  <a:schemeClr val="lt1"/>
                </a:solidFill>
              </a:rPr>
              <a:t>Thank You!</a:t>
            </a:r>
            <a:endParaRPr b="1" sz="2400">
              <a:solidFill>
                <a:schemeClr val="lt1"/>
              </a:solidFill>
            </a:endParaRPr>
          </a:p>
        </p:txBody>
      </p:sp>
      <p:pic>
        <p:nvPicPr>
          <p:cNvPr id="175" name="Google Shape;175;p26" title="questions.gif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1600" y="1295938"/>
            <a:ext cx="2189104" cy="25516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